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65" r:id="rId4"/>
    <p:sldId id="266" r:id="rId5"/>
    <p:sldId id="267" r:id="rId6"/>
    <p:sldId id="268" r:id="rId7"/>
    <p:sldId id="262" r:id="rId8"/>
    <p:sldId id="272" r:id="rId9"/>
    <p:sldId id="264" r:id="rId10"/>
    <p:sldId id="274" r:id="rId11"/>
    <p:sldId id="261" r:id="rId12"/>
    <p:sldId id="273" r:id="rId13"/>
    <p:sldId id="275" r:id="rId14"/>
    <p:sldId id="276" r:id="rId15"/>
    <p:sldId id="277" r:id="rId16"/>
    <p:sldId id="257" r:id="rId17"/>
    <p:sldId id="263" r:id="rId18"/>
    <p:sldId id="269" r:id="rId19"/>
    <p:sldId id="258" r:id="rId20"/>
    <p:sldId id="270" r:id="rId21"/>
    <p:sldId id="279" r:id="rId22"/>
    <p:sldId id="259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00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03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7079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369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6876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471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11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278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77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51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2540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00A82-170D-4C85-964A-556FBB9C88A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8E101-FCB9-4D49-802F-3BEA0DD00CE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77102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barcodedatalink.com/wp-content/uploads/2023/09/ZPL_Manual_from_Barcode_Datalink.pdf?utm_source=chatgpt.com" TargetMode="External"/><Relationship Id="rId13" Type="http://schemas.openxmlformats.org/officeDocument/2006/relationships/hyperlink" Target="https://teamdls.com/DLS-Blog/Thermal-Transfer-Ribbon-Options.htm?utm_source=chatgpt.com" TargetMode="External"/><Relationship Id="rId3" Type="http://schemas.openxmlformats.org/officeDocument/2006/relationships/hyperlink" Target="https://www.zebra.com/content/dam/zebra_new_ia/en-us/solutions-verticals/product/Software/Printer%20Software/Link-OS/browser-print/zebra-browser-print-user-guide-v1-3-en-us.pdf?utm_source=chatgpt.com" TargetMode="External"/><Relationship Id="rId7" Type="http://schemas.openxmlformats.org/officeDocument/2006/relationships/hyperlink" Target="https://valutrack.com/technology/software/zebra-technologies-software-solutions/zebra-cloud-connect-2/?utm_source=chatgpt.com" TargetMode="External"/><Relationship Id="rId12" Type="http://schemas.openxmlformats.org/officeDocument/2006/relationships/hyperlink" Target="https://www.smithcorona.com/blog/polypropylene-bopp-labels/?srsltid=AfmBOop0KGc9fqdgxMuARnZ1ZAbksJcSslPW3OBtihaiccesrWmRMVEH&amp;utm_source=chatgpt.com" TargetMode="External"/><Relationship Id="rId2" Type="http://schemas.openxmlformats.org/officeDocument/2006/relationships/hyperlink" Target="https://supportcommunity.zebra.com/s/article/Using-the-ZebraNet-Print-Server-Web-Page-to-configure-a-Permanent-IP-Address?language=en_US&amp;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zebra.com/us/en/software/printer-software/cloud-connect.html?utm_source=chatgpt.com" TargetMode="External"/><Relationship Id="rId11" Type="http://schemas.openxmlformats.org/officeDocument/2006/relationships/hyperlink" Target="https://info.weberpackaging.com/blog/thermal-transfer-ribbons?utm_source=chatgpt.com" TargetMode="External"/><Relationship Id="rId5" Type="http://schemas.openxmlformats.org/officeDocument/2006/relationships/hyperlink" Target="https://www.youtube.com/watch?v=LRcd_lyHcX8&amp;utm_source=chatgpt.com" TargetMode="External"/><Relationship Id="rId10" Type="http://schemas.openxmlformats.org/officeDocument/2006/relationships/hyperlink" Target="https://www.ablelabel.com/label-info/thermal-transfer-label/polypropylene?utm_source=chatgpt.com" TargetMode="External"/><Relationship Id="rId4" Type="http://schemas.openxmlformats.org/officeDocument/2006/relationships/hyperlink" Target="https://www.servicenow.com/community/servicenow-ai-platform-articles/print-a-barcode-label-on-a-zebra-printer-using-browser-print/ta-p/2322299?utm_source=chatgpt.com" TargetMode="External"/><Relationship Id="rId9" Type="http://schemas.openxmlformats.org/officeDocument/2006/relationships/hyperlink" Target="https://supportcommunity.zebra.com/s/article/000027376?language=en_US&amp;utm_source=chatgpt.com" TargetMode="External"/><Relationship Id="rId14" Type="http://schemas.openxmlformats.org/officeDocument/2006/relationships/hyperlink" Target="https://www.labelsdirect.com/2-x-1-thermal-transfer-industrial-printer-removable-weatherproof-labels-polypropylene-film-3-core-8-od-white-8-rollscase?utm_source=chatgpt.com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odstandards.gov.au/business/primary-production-and-processing" TargetMode="External"/><Relationship Id="rId2" Type="http://schemas.openxmlformats.org/officeDocument/2006/relationships/hyperlink" Target="https://www.foodstandards.gov.au/consumer/labell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sources.foodsafety.com.au/guides/complying-food-safety-standard-322a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CE285-53D8-58B1-F5C7-3D2023FDA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1673"/>
            <a:ext cx="9144000" cy="1245065"/>
          </a:xfrm>
        </p:spPr>
        <p:txBody>
          <a:bodyPr>
            <a:normAutofit fontScale="90000"/>
          </a:bodyPr>
          <a:lstStyle/>
          <a:p>
            <a:r>
              <a:rPr lang="pt-BR" sz="8800" dirty="0">
                <a:latin typeface="Bahnschrift Light SemiCondensed" panose="020B0502040204020203" pitchFamily="34" charset="0"/>
              </a:rPr>
              <a:t>PRODUCTS LIFE CYCLE</a:t>
            </a:r>
          </a:p>
        </p:txBody>
      </p:sp>
    </p:spTree>
    <p:extLst>
      <p:ext uri="{BB962C8B-B14F-4D97-AF65-F5344CB8AC3E}">
        <p14:creationId xmlns:p14="http://schemas.microsoft.com/office/powerpoint/2010/main" val="1918718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42FC9-FDF7-C101-5014-FEB51B6DC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7068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Objetivo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CC79F4-3149-BAD1-491B-033F6FF61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dirty="0"/>
              <a:t>Desenvolver um sistema customizado para </a:t>
            </a:r>
            <a:r>
              <a:rPr lang="pt-BR" b="1" dirty="0"/>
              <a:t>gerenciar o ciclo de vida de produtos</a:t>
            </a:r>
            <a:r>
              <a:rPr lang="pt-BR" dirty="0"/>
              <a:t>, incluindo: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Controle de estoque e movimentações por lote.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Cadastro e registro de produtos novos.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Geração e impressão de etiquetas (Zebra, material BOPP).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Controle de validade, descarte automático e logs de auditoria.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Dashboard para Gerente e Executivo com indicadores de uso, estoque e conformidade regulatória.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8548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776E5-A70A-C4E6-5A4A-BD04EA54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3501" y="18255"/>
            <a:ext cx="3064998" cy="1325563"/>
          </a:xfrm>
        </p:spPr>
        <p:txBody>
          <a:bodyPr>
            <a:noAutofit/>
          </a:bodyPr>
          <a:lstStyle/>
          <a:p>
            <a:r>
              <a:rPr lang="pt-BR" sz="6000" b="1" dirty="0"/>
              <a:t>Usuários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D1A79D-6841-39B2-DB2D-F8C0C9BC4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pt-BR" sz="4400" dirty="0"/>
              <a:t>👨‍🍳 Cozinheiro / 👨‍🍹 Barman</a:t>
            </a:r>
          </a:p>
          <a:p>
            <a:pPr>
              <a:lnSpc>
                <a:spcPct val="200000"/>
              </a:lnSpc>
            </a:pPr>
            <a:r>
              <a:rPr lang="pt-BR" sz="4400" dirty="0"/>
              <a:t>🧑‍💼 Gerente</a:t>
            </a:r>
          </a:p>
          <a:p>
            <a:pPr>
              <a:lnSpc>
                <a:spcPct val="200000"/>
              </a:lnSpc>
            </a:pPr>
            <a:r>
              <a:rPr lang="pt-BR" sz="4400" dirty="0"/>
              <a:t>👔 Executivo do Estabelecimento</a:t>
            </a:r>
          </a:p>
        </p:txBody>
      </p:sp>
    </p:spTree>
    <p:extLst>
      <p:ext uri="{BB962C8B-B14F-4D97-AF65-F5344CB8AC3E}">
        <p14:creationId xmlns:p14="http://schemas.microsoft.com/office/powerpoint/2010/main" val="2887416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64C67-C953-C96F-E439-D2A623D47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D331D-DEF8-066E-42C4-067C9A096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404" y="-108354"/>
            <a:ext cx="7053190" cy="1325563"/>
          </a:xfrm>
        </p:spPr>
        <p:txBody>
          <a:bodyPr>
            <a:noAutofit/>
          </a:bodyPr>
          <a:lstStyle/>
          <a:p>
            <a:r>
              <a:rPr lang="pt-BR" sz="6000" b="1" dirty="0"/>
              <a:t>Funções dos Usuários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EDB527-C769-1858-FDB3-FD6030016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537" y="1076533"/>
            <a:ext cx="10738925" cy="55141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2000" b="1" dirty="0"/>
              <a:t>👨‍🍳 Cozinheiro / 👨‍🍹 Barman</a:t>
            </a:r>
            <a:br>
              <a:rPr lang="pt-BR" sz="2000" b="1" dirty="0"/>
            </a:br>
            <a:endParaRPr lang="pt-BR" sz="2000" b="1" dirty="0"/>
          </a:p>
          <a:p>
            <a:pPr>
              <a:buNone/>
            </a:pPr>
            <a:r>
              <a:rPr lang="pt-BR" sz="2000" dirty="0"/>
              <a:t>Fluxo principal: </a:t>
            </a:r>
            <a:r>
              <a:rPr lang="pt-BR" sz="2000" b="1" dirty="0"/>
              <a:t>uso diário e identificação rápida dos produtos</a:t>
            </a:r>
            <a:br>
              <a:rPr lang="pt-BR" sz="2000" b="1" dirty="0"/>
            </a:br>
            <a:endParaRPr lang="pt-BR" sz="2000" dirty="0"/>
          </a:p>
          <a:p>
            <a:pPr>
              <a:buNone/>
            </a:pPr>
            <a:r>
              <a:rPr lang="pt-BR" sz="2000" b="1" dirty="0"/>
              <a:t>Recebimento e Registro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Recebem o produto no estoque (já cadastrado ou novo).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Conferem a etiqueta (produto, lote, validade).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Se produto novo → notificam o Gerente para cadastro.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Armazenam conforme indicação da etiqueta (freezer, geladeira, prateleira).</a:t>
            </a:r>
            <a:br>
              <a:rPr lang="pt-BR" sz="2000" dirty="0"/>
            </a:br>
            <a:endParaRPr lang="pt-BR" sz="2000" dirty="0"/>
          </a:p>
          <a:p>
            <a:pPr>
              <a:buNone/>
            </a:pPr>
            <a:r>
              <a:rPr lang="pt-BR" sz="2000" b="1" dirty="0"/>
              <a:t>Descarte e Reposição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Sistema notifica via </a:t>
            </a:r>
            <a:r>
              <a:rPr lang="pt-BR" sz="2000" dirty="0" err="1"/>
              <a:t>job</a:t>
            </a:r>
            <a:r>
              <a:rPr lang="pt-BR" sz="2000" dirty="0"/>
              <a:t> diário: </a:t>
            </a:r>
            <a:r>
              <a:rPr lang="pt-BR" sz="2000" i="1" dirty="0"/>
              <a:t>“Produto X expira hoje”</a:t>
            </a:r>
            <a:r>
              <a:rPr lang="pt-BR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Cozinheiro/Barman retiram o item vencido ou acabado e confirmam no sistema → </a:t>
            </a:r>
            <a:r>
              <a:rPr lang="pt-BR" sz="2000" b="1" dirty="0"/>
              <a:t>status atualizado para descartado</a:t>
            </a:r>
            <a:r>
              <a:rPr lang="pt-BR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pt-BR" sz="2000" dirty="0"/>
              <a:t>Solicitam reposição (pedido de compra) se estoque ficar abaixo do mínimo.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83664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19954C1-6EF2-DCA6-8307-F398E048FD24}"/>
              </a:ext>
            </a:extLst>
          </p:cNvPr>
          <p:cNvSpPr txBox="1">
            <a:spLocks/>
          </p:cNvSpPr>
          <p:nvPr/>
        </p:nvSpPr>
        <p:spPr>
          <a:xfrm>
            <a:off x="2569405" y="18255"/>
            <a:ext cx="70531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b="1"/>
              <a:t>Funções dos Usuários</a:t>
            </a:r>
            <a:endParaRPr lang="pt-BR" sz="6000" b="1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88A94D66-8D3C-1D2B-074B-9FAD143F9BA8}"/>
              </a:ext>
            </a:extLst>
          </p:cNvPr>
          <p:cNvSpPr txBox="1">
            <a:spLocks/>
          </p:cNvSpPr>
          <p:nvPr/>
        </p:nvSpPr>
        <p:spPr>
          <a:xfrm>
            <a:off x="824718" y="1203141"/>
            <a:ext cx="10542563" cy="501412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pt-BR" sz="8800" b="1" dirty="0"/>
              <a:t>🧑‍💼 Gerente</a:t>
            </a:r>
            <a:br>
              <a:rPr lang="pt-BR" sz="8800" b="1" dirty="0"/>
            </a:br>
            <a:endParaRPr lang="pt-BR" sz="8800" b="1" dirty="0"/>
          </a:p>
          <a:p>
            <a:pPr>
              <a:buNone/>
            </a:pPr>
            <a:r>
              <a:rPr lang="pt-BR" sz="8800" dirty="0"/>
              <a:t>Fluxo principal: </a:t>
            </a:r>
            <a:r>
              <a:rPr lang="pt-BR" sz="8800" b="1" dirty="0"/>
              <a:t>controle de estoque, cadastro e conformidade</a:t>
            </a:r>
            <a:br>
              <a:rPr lang="pt-BR" sz="8800" b="1" dirty="0"/>
            </a:br>
            <a:endParaRPr lang="pt-BR" sz="8800" dirty="0"/>
          </a:p>
          <a:p>
            <a:pPr>
              <a:buNone/>
            </a:pPr>
            <a:r>
              <a:rPr lang="pt-BR" sz="8800" b="1" dirty="0"/>
              <a:t>Recebimento e Registro</a:t>
            </a:r>
          </a:p>
          <a:p>
            <a:pPr>
              <a:buFont typeface="+mj-lt"/>
              <a:buAutoNum type="arabicPeriod"/>
            </a:pPr>
            <a:r>
              <a:rPr lang="pt-BR" sz="8800" dirty="0"/>
              <a:t>Verifica nota fiscal/entrega.</a:t>
            </a:r>
          </a:p>
          <a:p>
            <a:pPr>
              <a:buFont typeface="+mj-lt"/>
              <a:buAutoNum type="arabicPeriod"/>
            </a:pPr>
            <a:r>
              <a:rPr lang="pt-BR" sz="8800" dirty="0"/>
              <a:t>Se </a:t>
            </a:r>
            <a:r>
              <a:rPr lang="pt-BR" sz="8800" b="1" dirty="0"/>
              <a:t>produto já existe</a:t>
            </a:r>
            <a:r>
              <a:rPr lang="pt-BR" sz="8800" dirty="0"/>
              <a:t> → adiciona ao lote no sistema.</a:t>
            </a:r>
          </a:p>
          <a:p>
            <a:pPr>
              <a:buFont typeface="+mj-lt"/>
              <a:buAutoNum type="arabicPeriod"/>
            </a:pPr>
            <a:r>
              <a:rPr lang="pt-BR" sz="8800" dirty="0"/>
              <a:t>Se </a:t>
            </a:r>
            <a:r>
              <a:rPr lang="pt-BR" sz="8800" b="1" dirty="0"/>
              <a:t>produto novo</a:t>
            </a:r>
            <a:r>
              <a:rPr lang="pt-BR" sz="8800" dirty="0"/>
              <a:t> → cadastra no sistema com dados (nome, categoria, fornecedor, validade, condições de armazenamento).</a:t>
            </a:r>
          </a:p>
          <a:p>
            <a:pPr>
              <a:buFont typeface="+mj-lt"/>
              <a:buAutoNum type="arabicPeriod"/>
            </a:pPr>
            <a:r>
              <a:rPr lang="pt-BR" sz="8800" dirty="0"/>
              <a:t>Sistema gera etiqueta → impressora Zebra imprime etiqueta BOPP.</a:t>
            </a:r>
          </a:p>
          <a:p>
            <a:pPr>
              <a:buFont typeface="+mj-lt"/>
              <a:buAutoNum type="arabicPeriod"/>
            </a:pPr>
            <a:r>
              <a:rPr lang="pt-BR" sz="8800" dirty="0"/>
              <a:t>Gerente cola etiqueta no produto/lote.</a:t>
            </a:r>
          </a:p>
          <a:p>
            <a:pPr>
              <a:buNone/>
            </a:pPr>
            <a:endParaRPr lang="pt-BR" sz="8800" b="1" dirty="0"/>
          </a:p>
          <a:p>
            <a:pPr>
              <a:buNone/>
            </a:pPr>
            <a:r>
              <a:rPr lang="pt-BR" sz="8800" b="1" dirty="0"/>
              <a:t>Descarte e Reposição</a:t>
            </a:r>
          </a:p>
          <a:p>
            <a:pPr>
              <a:buFont typeface="+mj-lt"/>
              <a:buAutoNum type="arabicPeriod"/>
            </a:pPr>
            <a:r>
              <a:rPr lang="pt-BR" sz="8800" dirty="0"/>
              <a:t>Recebe relatório diário de produtos vencidos/próximos ao vencimento.</a:t>
            </a:r>
          </a:p>
          <a:p>
            <a:pPr>
              <a:buFont typeface="+mj-lt"/>
              <a:buAutoNum type="arabicPeriod"/>
            </a:pPr>
            <a:r>
              <a:rPr lang="pt-BR" sz="8800" dirty="0"/>
              <a:t>Autoriza descarte e gera log no sistema (para fins de auditoria).</a:t>
            </a:r>
          </a:p>
          <a:p>
            <a:pPr>
              <a:buFont typeface="+mj-lt"/>
              <a:buAutoNum type="arabicPeriod"/>
            </a:pPr>
            <a:r>
              <a:rPr lang="pt-BR" sz="8800" dirty="0"/>
              <a:t>Avalia reposição (estoque mínimo atingido) e dispara pedido de compra.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01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D540-884F-F605-DCDA-AC7D47528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FFE7B78-ABFD-1DC6-6133-24EE84FEFC5D}"/>
              </a:ext>
            </a:extLst>
          </p:cNvPr>
          <p:cNvSpPr txBox="1">
            <a:spLocks/>
          </p:cNvSpPr>
          <p:nvPr/>
        </p:nvSpPr>
        <p:spPr>
          <a:xfrm>
            <a:off x="2569405" y="18255"/>
            <a:ext cx="70531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6000" b="1"/>
              <a:t>Funções dos Usuários</a:t>
            </a:r>
            <a:endParaRPr lang="pt-BR" sz="6000" b="1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9AF83E66-DFC0-3936-4224-97312B729961}"/>
              </a:ext>
            </a:extLst>
          </p:cNvPr>
          <p:cNvSpPr txBox="1">
            <a:spLocks/>
          </p:cNvSpPr>
          <p:nvPr/>
        </p:nvSpPr>
        <p:spPr>
          <a:xfrm>
            <a:off x="824718" y="1407476"/>
            <a:ext cx="10542563" cy="5014120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pt-BR" sz="6000" b="1" dirty="0"/>
              <a:t>👔 Executivo do Estabelecimento</a:t>
            </a:r>
          </a:p>
          <a:p>
            <a:pPr>
              <a:buNone/>
            </a:pPr>
            <a:endParaRPr lang="pt-BR" sz="6000" b="1" dirty="0"/>
          </a:p>
          <a:p>
            <a:pPr>
              <a:buNone/>
            </a:pPr>
            <a:r>
              <a:rPr lang="pt-BR" sz="6000" dirty="0"/>
              <a:t>Fluxo principal: </a:t>
            </a:r>
            <a:r>
              <a:rPr lang="pt-BR" sz="6000" b="1" dirty="0"/>
              <a:t>tomada de decisão e conformidade regulatória</a:t>
            </a:r>
            <a:endParaRPr lang="pt-BR" sz="6000" dirty="0"/>
          </a:p>
          <a:p>
            <a:pPr>
              <a:buNone/>
            </a:pPr>
            <a:endParaRPr lang="pt-BR" sz="6000" b="1" dirty="0"/>
          </a:p>
          <a:p>
            <a:pPr>
              <a:buNone/>
            </a:pPr>
            <a:r>
              <a:rPr lang="pt-BR" sz="6000" b="1" dirty="0"/>
              <a:t>Recebimento e Registro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6000" dirty="0"/>
              <a:t>Acompanha via dashboard relatórios de entrada, consumo e validade.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6000" dirty="0"/>
              <a:t>Não atua diretamente no registro físico, mas monitora indicadores.</a:t>
            </a:r>
            <a:br>
              <a:rPr lang="pt-BR" sz="6000" dirty="0"/>
            </a:br>
            <a:endParaRPr lang="pt-BR" sz="6000" dirty="0"/>
          </a:p>
          <a:p>
            <a:pPr>
              <a:buNone/>
            </a:pPr>
            <a:r>
              <a:rPr lang="pt-BR" sz="6000" b="1" dirty="0"/>
              <a:t>Descarte e Reposição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6000" dirty="0"/>
              <a:t>Visualiza relatórios consolidados de perdas por validade.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6000" dirty="0"/>
              <a:t>Analisa eficiência de fornecedores e custos de descarte.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6000" dirty="0"/>
              <a:t>Usa logs para prestar contas a órgãos reguladores de </a:t>
            </a:r>
            <a:r>
              <a:rPr lang="pt-BR" sz="6000" b="1" dirty="0"/>
              <a:t>Perth (WA Health Food </a:t>
            </a:r>
            <a:r>
              <a:rPr lang="pt-BR" sz="6000" b="1" dirty="0" err="1"/>
              <a:t>Safety</a:t>
            </a:r>
            <a:r>
              <a:rPr lang="pt-BR" sz="6000" b="1" dirty="0"/>
              <a:t>)</a:t>
            </a:r>
            <a:r>
              <a:rPr lang="pt-BR" sz="6000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0501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52BF3-150D-EB8E-EECC-771987AAC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405" y="0"/>
            <a:ext cx="7053190" cy="1325563"/>
          </a:xfrm>
        </p:spPr>
        <p:txBody>
          <a:bodyPr>
            <a:noAutofit/>
          </a:bodyPr>
          <a:lstStyle/>
          <a:p>
            <a:r>
              <a:rPr lang="pt-BR" sz="6000" b="1" dirty="0"/>
              <a:t>Jornadas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674424-42AC-FF3A-F25E-CA2C14041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Entrada / Registro de Produto</a:t>
            </a:r>
            <a:br>
              <a:rPr lang="pt-BR" dirty="0"/>
            </a:br>
            <a:r>
              <a:rPr lang="pt-BR" dirty="0"/>
              <a:t>Fornecedor → [Gerente cadastra / atualiza produto] → Sistema gera etiqueta Zebra → Produto etiquetado → [Cozinheiro/Barman armazenam e usam]</a:t>
            </a:r>
          </a:p>
          <a:p>
            <a:r>
              <a:rPr lang="pt-BR" b="1" dirty="0"/>
              <a:t>Descarte e Reposição</a:t>
            </a:r>
            <a:br>
              <a:rPr lang="pt-BR" dirty="0"/>
            </a:br>
            <a:r>
              <a:rPr lang="pt-BR" dirty="0" err="1"/>
              <a:t>Job</a:t>
            </a:r>
            <a:r>
              <a:rPr lang="pt-BR" dirty="0"/>
              <a:t> diário → Notificação de produto vencido → [Cozinheiro/Barman descartam] → [Gerente autoriza e registra] → Sistema gera log → Estoque atualizado → Pedido de reposição (se necessário) → [Executivo acompanha indicadores]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9120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5B8CD5-8932-781E-04C4-055448E3E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/>
              <a:t>Escopo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9B814C-90D0-87C2-579D-7C35087E1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78" y="1219200"/>
            <a:ext cx="11257643" cy="581297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pt-BR" sz="6400" b="1" dirty="0"/>
              <a:t>Gestão de Produtos</a:t>
            </a:r>
            <a:endParaRPr lang="pt-BR" sz="6400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Cadastro de produtos e lotes.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Associação de produtos a categorias.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Registro de lote com quantidade inicial e validade.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pt-BR" sz="6400" b="1" dirty="0"/>
              <a:t>Movimentação Simplificada</a:t>
            </a:r>
            <a:endParaRPr lang="pt-BR" sz="6400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Uso por evento (ex.: preparo de receitas) sem necessidade de pesar cada item.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Fechamento diário/por turno para atualizar quantidade aproximada restante.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Transferência de lotes entre setores (cozinha, bar, freezer, geladeira).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pt-BR" sz="6400" b="1" dirty="0"/>
              <a:t>Etiquetagem e Impressão</a:t>
            </a:r>
            <a:endParaRPr lang="pt-BR" sz="6400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Geração de etiquetas para cada lote.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Integração com impressoras Zebra utilizando etiquetas BOPP.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pt-BR" sz="6400" b="1" dirty="0"/>
              <a:t>Descarte e Reposição</a:t>
            </a:r>
            <a:endParaRPr lang="pt-BR" sz="6400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Daily </a:t>
            </a:r>
            <a:r>
              <a:rPr lang="pt-BR" sz="5600" dirty="0" err="1"/>
              <a:t>Job</a:t>
            </a:r>
            <a:r>
              <a:rPr lang="pt-BR" sz="5600" dirty="0"/>
              <a:t> para identificar produtos próximos do vencimento.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Registro de descarte e geração de log de auditoria.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Alertas de reposição de estoque para Gerente e Executivo.</a:t>
            </a:r>
          </a:p>
          <a:p>
            <a:pPr>
              <a:lnSpc>
                <a:spcPct val="120000"/>
              </a:lnSpc>
              <a:buFont typeface="+mj-lt"/>
              <a:buAutoNum type="arabicPeriod"/>
            </a:pPr>
            <a:r>
              <a:rPr lang="pt-BR" sz="6400" b="1" dirty="0"/>
              <a:t>Dashboard e Relatórios</a:t>
            </a:r>
            <a:endParaRPr lang="pt-BR" sz="6400" dirty="0"/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Indicadores de estoque, uso e perdas.</a:t>
            </a:r>
          </a:p>
          <a:p>
            <a:pPr marL="742950" lvl="1" indent="-285750">
              <a:lnSpc>
                <a:spcPct val="120000"/>
              </a:lnSpc>
              <a:buFont typeface="+mj-lt"/>
              <a:buAutoNum type="arabicPeriod"/>
            </a:pPr>
            <a:r>
              <a:rPr lang="pt-BR" sz="5600" dirty="0"/>
              <a:t>Logs para conformidade regulatória em Perth, Austrália.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4346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89401-6B00-7195-542E-4FD8AF991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609" y="-126611"/>
            <a:ext cx="9298745" cy="1325563"/>
          </a:xfrm>
        </p:spPr>
        <p:txBody>
          <a:bodyPr/>
          <a:lstStyle/>
          <a:p>
            <a:pPr algn="ctr"/>
            <a:r>
              <a:rPr lang="pt-BR" b="1" dirty="0"/>
              <a:t>Modelo Entidade Relacionamento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EF73C45-35FC-6B2D-C44F-754FAEB6E3B9}"/>
              </a:ext>
            </a:extLst>
          </p:cNvPr>
          <p:cNvSpPr txBox="1"/>
          <p:nvPr/>
        </p:nvSpPr>
        <p:spPr>
          <a:xfrm>
            <a:off x="1045028" y="1198952"/>
            <a:ext cx="9955906" cy="526297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r>
              <a:rPr lang="pt-BR" sz="1600" dirty="0"/>
              <a:t>[Fornecedor]</a:t>
            </a:r>
          </a:p>
          <a:p>
            <a:r>
              <a:rPr lang="pt-BR" sz="1600" dirty="0"/>
              <a:t>     |</a:t>
            </a:r>
          </a:p>
          <a:p>
            <a:r>
              <a:rPr lang="pt-BR" sz="1600" dirty="0"/>
              <a:t>     v</a:t>
            </a:r>
          </a:p>
          <a:p>
            <a:r>
              <a:rPr lang="pt-BR" sz="1600" dirty="0"/>
              <a:t> [Produto] &lt;---- [</a:t>
            </a:r>
            <a:r>
              <a:rPr lang="pt-BR" sz="1600"/>
              <a:t>Categoria]</a:t>
            </a:r>
            <a:r>
              <a:rPr lang="pt-BR" sz="1600">
                <a:sym typeface="Wingdings" panose="05000000000000000000" pitchFamily="2" charset="2"/>
              </a:rPr>
              <a:t>-------LISTA TÉCNICA POR PRATO</a:t>
            </a:r>
            <a:endParaRPr lang="pt-BR" sz="1600" dirty="0"/>
          </a:p>
          <a:p>
            <a:r>
              <a:rPr lang="pt-BR" sz="1600" dirty="0"/>
              <a:t>     |</a:t>
            </a:r>
          </a:p>
          <a:p>
            <a:r>
              <a:rPr lang="pt-BR" sz="1600" dirty="0"/>
              <a:t>     v</a:t>
            </a:r>
          </a:p>
          <a:p>
            <a:r>
              <a:rPr lang="pt-BR" sz="1600" dirty="0"/>
              <a:t>  [Lote] -----&gt; [Etiqueta]</a:t>
            </a:r>
          </a:p>
          <a:p>
            <a:r>
              <a:rPr lang="pt-BR" sz="1600" dirty="0"/>
              <a:t>     |</a:t>
            </a:r>
          </a:p>
          <a:p>
            <a:r>
              <a:rPr lang="pt-BR" sz="1600" dirty="0"/>
              <a:t>     v</a:t>
            </a:r>
          </a:p>
          <a:p>
            <a:r>
              <a:rPr lang="pt-BR" sz="1600" dirty="0"/>
              <a:t>-------------CONTROLE DE ESTOQUE-----------------------</a:t>
            </a:r>
          </a:p>
          <a:p>
            <a:r>
              <a:rPr lang="pt-BR" sz="1600" dirty="0"/>
              <a:t>[Uso por Evento] ---&gt; [Registro de Lote em Uso]</a:t>
            </a:r>
          </a:p>
          <a:p>
            <a:r>
              <a:rPr lang="pt-BR" sz="1600" dirty="0"/>
              <a:t>     |</a:t>
            </a:r>
          </a:p>
          <a:p>
            <a:r>
              <a:rPr lang="pt-BR" sz="1600" dirty="0"/>
              <a:t>     v</a:t>
            </a:r>
          </a:p>
          <a:p>
            <a:r>
              <a:rPr lang="pt-BR" sz="1600" dirty="0"/>
              <a:t>[Fechamento Diário/Turno] ---&gt; [Quantidade Aproximada Restante]</a:t>
            </a:r>
          </a:p>
          <a:p>
            <a:r>
              <a:rPr lang="pt-BR" sz="1600" dirty="0"/>
              <a:t>     |</a:t>
            </a:r>
          </a:p>
          <a:p>
            <a:r>
              <a:rPr lang="pt-BR" sz="1600" dirty="0"/>
              <a:t>     v</a:t>
            </a:r>
          </a:p>
          <a:p>
            <a:r>
              <a:rPr lang="pt-BR" sz="1600" dirty="0"/>
              <a:t>-------------------------------------------------------</a:t>
            </a:r>
          </a:p>
          <a:p>
            <a:r>
              <a:rPr lang="pt-BR" sz="1600" dirty="0"/>
              <a:t>[Descarte se Vencido] ---&gt; [Log Auditoria]</a:t>
            </a:r>
          </a:p>
          <a:p>
            <a:r>
              <a:rPr lang="pt-BR" sz="1600" dirty="0"/>
              <a:t>     |</a:t>
            </a:r>
          </a:p>
          <a:p>
            <a:r>
              <a:rPr lang="pt-BR" sz="1600" dirty="0"/>
              <a:t>     v</a:t>
            </a:r>
          </a:p>
          <a:p>
            <a:r>
              <a:rPr lang="pt-BR" sz="1600" dirty="0"/>
              <a:t>[Reposição de Estoque] ---&gt; [Gerente/Executivo monitoram]</a:t>
            </a:r>
          </a:p>
        </p:txBody>
      </p:sp>
    </p:spTree>
    <p:extLst>
      <p:ext uri="{BB962C8B-B14F-4D97-AF65-F5344CB8AC3E}">
        <p14:creationId xmlns:p14="http://schemas.microsoft.com/office/powerpoint/2010/main" val="265050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9A95-EFE7-6628-A6EC-5305DBD57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DDB03-552D-0D33-6BE6-9187756FE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458"/>
            <a:ext cx="103632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/>
              <a:t>Arquitetura – Banco de Dados</a:t>
            </a:r>
            <a:endParaRPr lang="pt-BR" sz="36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43710D-29AB-D43D-B16F-980DFA9C6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2108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Tecnologia sugerida:</a:t>
            </a:r>
            <a:r>
              <a:rPr lang="pt-BR" dirty="0"/>
              <a:t> PostgreSQL (ou alternativa open-</a:t>
            </a:r>
            <a:r>
              <a:rPr lang="pt-BR" dirty="0" err="1"/>
              <a:t>source</a:t>
            </a:r>
            <a:r>
              <a:rPr lang="pt-BR" dirty="0"/>
              <a:t> como MySQL / </a:t>
            </a:r>
            <a:r>
              <a:rPr lang="pt-BR" dirty="0" err="1"/>
              <a:t>MariaDB</a:t>
            </a:r>
            <a:r>
              <a:rPr lang="pt-BR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Estrutura resumida: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Produtos</a:t>
            </a:r>
            <a:r>
              <a:rPr lang="pt-BR" dirty="0"/>
              <a:t>: informações básicas e categoria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Lotes</a:t>
            </a:r>
            <a:r>
              <a:rPr lang="pt-BR" dirty="0"/>
              <a:t>: quantidade, validade, localização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Movimentações</a:t>
            </a:r>
            <a:r>
              <a:rPr lang="pt-BR" dirty="0"/>
              <a:t>: registro de uso, transferências e eventos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Etiquetas</a:t>
            </a:r>
            <a:r>
              <a:rPr lang="pt-BR" dirty="0"/>
              <a:t>: vinculação de lotes às etiquetas Zebra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/>
              <a:t>Logs de auditoria</a:t>
            </a:r>
            <a:r>
              <a:rPr lang="pt-BR" dirty="0"/>
              <a:t>: rastreabilidade de todas as ações do sistema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1132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A6AFC-145D-FAF0-42B3-FBBBE304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6951" y="0"/>
            <a:ext cx="7218095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700" b="1" dirty="0"/>
              <a:t>Arquitetura - </a:t>
            </a:r>
            <a:r>
              <a:rPr lang="pt-BR" sz="6700" b="1" dirty="0" err="1"/>
              <a:t>Backend</a:t>
            </a:r>
            <a:r>
              <a:rPr lang="pt-BR" dirty="0"/>
              <a:t> 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B606DA-113B-47F9-2B97-3A790F935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19388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t-BR" b="1" dirty="0" err="1"/>
              <a:t>Backend</a:t>
            </a:r>
            <a:r>
              <a:rPr lang="pt-BR" b="1" dirty="0"/>
              <a:t> (API / Middleware)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Tecnologia sugerida:</a:t>
            </a:r>
            <a:r>
              <a:rPr lang="pt-BR" dirty="0"/>
              <a:t> </a:t>
            </a:r>
            <a:r>
              <a:rPr lang="pt-BR" dirty="0" err="1"/>
              <a:t>FastAPI</a:t>
            </a:r>
            <a:r>
              <a:rPr lang="pt-BR" dirty="0"/>
              <a:t> (Python) ou Node.js (Express)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Funções principais: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Cadastro de produtos e lotes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Movimentação de lotes (uso por evento, transferências)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Controle de validade e descarte automático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Geração de logs de auditoria para conformidade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Integração com impressoras Zebra via API ou protocolo ZPL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Suporte a </a:t>
            </a:r>
            <a:r>
              <a:rPr lang="pt-BR" dirty="0" err="1"/>
              <a:t>jobs</a:t>
            </a:r>
            <a:r>
              <a:rPr lang="pt-BR" dirty="0"/>
              <a:t> diários (checagem de vencimento e alertas de reposição)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4083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5EF1-89DC-A849-FD02-1EA7737D6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C2701D-87BA-690F-ED78-DC56DD34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010" y="60458"/>
            <a:ext cx="7147979" cy="1325563"/>
          </a:xfrm>
        </p:spPr>
        <p:txBody>
          <a:bodyPr>
            <a:normAutofit fontScale="90000"/>
          </a:bodyPr>
          <a:lstStyle/>
          <a:p>
            <a:r>
              <a:rPr lang="pt-BR" sz="6700" b="1" dirty="0"/>
              <a:t>Arquitetura - </a:t>
            </a:r>
            <a:r>
              <a:rPr lang="pt-BR" sz="6700" b="1" dirty="0" err="1"/>
              <a:t>Frontend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38F4CE-DEE7-A75D-5632-DE51392A8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47879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Tecnologia sugerida:</a:t>
            </a:r>
            <a:r>
              <a:rPr lang="pt-BR" dirty="0"/>
              <a:t> </a:t>
            </a:r>
            <a:r>
              <a:rPr lang="pt-BR" dirty="0" err="1"/>
              <a:t>Lovable</a:t>
            </a:r>
            <a:r>
              <a:rPr lang="pt-BR" dirty="0"/>
              <a:t> / React.js ou framework web responsivo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Funções principais:</a:t>
            </a:r>
            <a:endParaRPr lang="pt-B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Dashboards para Gerente e Executivo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Visualização de estoque, alertas de vencimento, logs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Registro simplificado de uso de produtos (Cozinheiro/Barman)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Painel de gestão de etiquetas e impressão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Interface mobile-</a:t>
            </a:r>
            <a:r>
              <a:rPr lang="pt-BR" dirty="0" err="1"/>
              <a:t>friendly</a:t>
            </a:r>
            <a:r>
              <a:rPr lang="pt-BR" dirty="0"/>
              <a:t> (opcional)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2322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B77B4-B445-DC8C-F68E-34CA2F11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50195-6DBB-F182-02F0-A87BB8E3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5303" y="783771"/>
            <a:ext cx="13182601" cy="1144794"/>
          </a:xfrm>
        </p:spPr>
        <p:txBody>
          <a:bodyPr>
            <a:noAutofit/>
          </a:bodyPr>
          <a:lstStyle/>
          <a:p>
            <a:pPr algn="ctr"/>
            <a:r>
              <a:rPr lang="pt-BR" sz="6000" b="1" dirty="0"/>
              <a:t>Arquitetura - Integrações Externas</a:t>
            </a:r>
            <a:br>
              <a:rPr lang="pt-BR" sz="6000" b="1" dirty="0"/>
            </a:br>
            <a:endParaRPr lang="pt-BR" sz="60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6006C0-4658-C997-EAFF-0BCF90C0D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7" y="2044679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Impressoras Zebra para geração de etiquetas (BOPP)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APIs de notificação ou sistemas de ERP, se necessário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Jobs automáticos para: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Checagem de validade de produtos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Geração de relatórios de descarte e reposição</a:t>
            </a:r>
          </a:p>
          <a:p>
            <a:pPr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5573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3E53-FE3C-A10E-7124-3CFE5BE9B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2FEFC7-0B56-8381-C00D-0AC097195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47" y="646545"/>
            <a:ext cx="1100530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sz="6700" b="1" dirty="0"/>
              <a:t>Arquitetura - Usuários e Perfis</a:t>
            </a:r>
            <a:br>
              <a:rPr lang="pt-BR" sz="6700" b="1" dirty="0"/>
            </a:br>
            <a:endParaRPr lang="pt-BR" sz="67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F0D804-7B22-C4C2-7F41-B0038B86A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78507"/>
            <a:ext cx="10515600" cy="368846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pt-BR" b="1" dirty="0"/>
              <a:t>Cozinheiro/Barman</a:t>
            </a:r>
            <a:r>
              <a:rPr lang="pt-BR" dirty="0"/>
              <a:t>: marca uso de lotes por evento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Gerente</a:t>
            </a:r>
            <a:r>
              <a:rPr lang="pt-BR" dirty="0"/>
              <a:t>: cadastra produtos, aprova descarte e gera relatórios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Executivo</a:t>
            </a:r>
            <a:r>
              <a:rPr lang="pt-BR" dirty="0"/>
              <a:t>: visualiza dashboards e indicadores estratégicos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4126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26A0E-3C1E-251D-0BDD-40A94B85C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/>
              <a:t>Benefícios da Arquitetura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4D7318-3321-2767-2F13-6E2A845C0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995"/>
            <a:ext cx="10515600" cy="5015593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Modularidade:</a:t>
            </a:r>
            <a:r>
              <a:rPr lang="pt-BR" dirty="0"/>
              <a:t> </a:t>
            </a:r>
            <a:r>
              <a:rPr lang="pt-BR" dirty="0" err="1"/>
              <a:t>backend</a:t>
            </a:r>
            <a:r>
              <a:rPr lang="pt-BR" dirty="0"/>
              <a:t>, </a:t>
            </a:r>
            <a:r>
              <a:rPr lang="pt-BR" dirty="0" err="1"/>
              <a:t>frontend</a:t>
            </a:r>
            <a:r>
              <a:rPr lang="pt-BR" dirty="0"/>
              <a:t> e integrações separadas → manutenção simplificada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Escalabilidade:</a:t>
            </a:r>
            <a:r>
              <a:rPr lang="pt-BR" dirty="0"/>
              <a:t> adiciona novos usuários, produtos ou integrações sem refatoração total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Rastreabilidade completa:</a:t>
            </a:r>
            <a:r>
              <a:rPr lang="pt-BR" dirty="0"/>
              <a:t> logs e histórico para conformidade regulatória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Simplicidade para o usuário final:</a:t>
            </a:r>
            <a:r>
              <a:rPr lang="pt-BR" dirty="0"/>
              <a:t> uso por evento e fechamento diário → sem sobrecarga para cozinheiros/barmen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Integração com impressoras Zebra</a:t>
            </a:r>
            <a:r>
              <a:rPr lang="pt-BR" dirty="0"/>
              <a:t>: permite etiquetagem rápida e padronizada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8919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2B1575-9E2D-1087-8B80-06E6C7E9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670" y="0"/>
            <a:ext cx="9241609" cy="1325563"/>
          </a:xfrm>
        </p:spPr>
        <p:txBody>
          <a:bodyPr>
            <a:noAutofit/>
          </a:bodyPr>
          <a:lstStyle/>
          <a:p>
            <a:pPr algn="ctr"/>
            <a:r>
              <a:rPr lang="pt-BR" sz="6000" b="1" dirty="0"/>
              <a:t>Integração com Impressoras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0DD7C8-3CF7-0D0A-EEE3-A054622351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36675" y="1336385"/>
            <a:ext cx="10515600" cy="5386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Impressoras Zebra (ZPL + opções de conexão) - simples: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RAW TCP 9100 (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ZebraNet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/print server)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Enviar o ZPL diretamente via socket TCP para IP:9100. Configurar IP estático no print server da Zebra. É simples e robusto para impressão “de servidor”.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2"/>
              </a:rPr>
              <a:t>supportcommunity.zebra.com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Zebra Browser Print (desktop/web) – seguro e ideal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Um “bridge” no computador do usuário que o navegador usa para descobrir e enviar ZPL para impressoras USB/rede — ideal para apps web que precisam “imprimir silenciosamente” sem diálogo do SO.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3"/>
              </a:rPr>
              <a:t>Zebra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3"/>
              </a:rPr>
              <a:t>Technologies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4"/>
              </a:rPr>
              <a:t>ServiceNow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5"/>
              </a:rPr>
              <a:t>YouTube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Print DNA /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Link-OS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– Cloud Connect – moderno e robusto</a:t>
            </a:r>
            <a:b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 impressora abre um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WebSocket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seguro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para sua aplicação na nuvem, permitindo impressão e telemetria diretamente do cloud (sem servidor local). Útil para operações distribuídas.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6"/>
              </a:rPr>
              <a:t>Zebra Technologies+1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7"/>
              </a:rPr>
              <a:t>ValuTrack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todas usam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ZPL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como linguagem de etiquetas (suporte a QR, Code128, imagens, fontes, UTF-8). exemplos e manuais oficiais ajudam a calibrar códigos como ^BQ (QR) e ^FH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hex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/utf-8).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8"/>
              </a:rPr>
              <a:t>barcodedatalink.com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9"/>
              </a:rPr>
              <a:t>supportcommunity.zebra.com+1</a:t>
            </a: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material da etiqueta: BOP/BOPP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BOPP (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biaxially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oriented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polypropylene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exige impressão térmica por transferência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(não direto térmico) e, em geral,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ribbon</a:t>
            </a: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wax-resin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para durabilidade/abrasão e resistência a umidade/gordura. Se o ambiente for muito agressivo/químico, use </a:t>
            </a: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resin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10"/>
              </a:rPr>
              <a:t>ablelabel.com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11"/>
              </a:rPr>
              <a:t>info.weberpackaging.com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12"/>
              </a:rPr>
              <a:t>smithcorona.com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13"/>
              </a:rPr>
              <a:t>teamdls.com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14"/>
              </a:rPr>
              <a:t>labelsdirect.com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468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43861-8534-14DC-334D-DED76C19A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8607" y="131244"/>
            <a:ext cx="8094785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/>
              <a:t>Etiqueta - Dimensões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337515-1342-8876-26FB-9D35C082D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26969"/>
            <a:ext cx="10515600" cy="3013661"/>
          </a:xfrm>
        </p:spPr>
        <p:txBody>
          <a:bodyPr/>
          <a:lstStyle/>
          <a:p>
            <a:pPr>
              <a:buNone/>
            </a:pPr>
            <a:r>
              <a:rPr lang="pt-BR" b="1" dirty="0"/>
              <a:t>Tamanhos que cobrem a maioria dos casos: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50 × 30 mm</a:t>
            </a:r>
            <a:r>
              <a:rPr lang="pt-BR" dirty="0"/>
              <a:t> — rótulo de lote/uso interno.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70 × 25 mm</a:t>
            </a:r>
            <a:r>
              <a:rPr lang="pt-BR" dirty="0"/>
              <a:t> — etiqueta de prateleira/códigos longos (</a:t>
            </a:r>
            <a:r>
              <a:rPr lang="pt-BR" dirty="0" err="1"/>
              <a:t>template</a:t>
            </a:r>
            <a:r>
              <a:rPr lang="pt-BR" dirty="0"/>
              <a:t> incluído).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100 × 50 mm (4″ × 2″)</a:t>
            </a:r>
            <a:r>
              <a:rPr lang="pt-BR" dirty="0"/>
              <a:t> — identificação de caixa/embalagem.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102 × 150 mm (4″ × 6″)</a:t>
            </a:r>
            <a:r>
              <a:rPr lang="pt-BR" dirty="0"/>
              <a:t> — remessas/identificação ampliada.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1748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5F224-E6C3-CE3F-89CD-327222EDC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5" y="2766218"/>
            <a:ext cx="43434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Layout </a:t>
            </a:r>
            <a:br>
              <a:rPr lang="pt-BR" dirty="0"/>
            </a:br>
            <a:r>
              <a:rPr lang="pt-BR" dirty="0"/>
              <a:t>da</a:t>
            </a:r>
            <a:br>
              <a:rPr lang="pt-BR" dirty="0"/>
            </a:br>
            <a:r>
              <a:rPr lang="pt-BR" dirty="0"/>
              <a:t>Etiqueta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D66B1F3D-73E5-B0CD-0B8D-71D69BC69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5771" y="197522"/>
            <a:ext cx="6560456" cy="6462954"/>
          </a:xfrm>
        </p:spPr>
      </p:pic>
    </p:spTree>
    <p:extLst>
      <p:ext uri="{BB962C8B-B14F-4D97-AF65-F5344CB8AC3E}">
        <p14:creationId xmlns:p14="http://schemas.microsoft.com/office/powerpoint/2010/main" val="939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0B8A5-A1D3-F30E-983C-A99FF89C3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3543"/>
            <a:ext cx="10515600" cy="1325563"/>
          </a:xfrm>
        </p:spPr>
        <p:txBody>
          <a:bodyPr/>
          <a:lstStyle/>
          <a:p>
            <a:pPr algn="ctr"/>
            <a:r>
              <a:rPr lang="pt-BR" b="1" dirty="0"/>
              <a:t>ROADMAP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F368C2A-B4E0-21CF-3DCA-0BF740E2B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064568"/>
              </p:ext>
            </p:extLst>
          </p:nvPr>
        </p:nvGraphicFramePr>
        <p:xfrm>
          <a:off x="989838" y="1282020"/>
          <a:ext cx="10212324" cy="4351339"/>
        </p:xfrm>
        <a:graphic>
          <a:graphicData uri="http://schemas.openxmlformats.org/drawingml/2006/table">
            <a:tbl>
              <a:tblPr/>
              <a:tblGrid>
                <a:gridCol w="3404108">
                  <a:extLst>
                    <a:ext uri="{9D8B030D-6E8A-4147-A177-3AD203B41FA5}">
                      <a16:colId xmlns:a16="http://schemas.microsoft.com/office/drawing/2014/main" val="555582371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3656248372"/>
                    </a:ext>
                  </a:extLst>
                </a:gridCol>
                <a:gridCol w="3404108">
                  <a:extLst>
                    <a:ext uri="{9D8B030D-6E8A-4147-A177-3AD203B41FA5}">
                      <a16:colId xmlns:a16="http://schemas.microsoft.com/office/drawing/2014/main" val="3096326441"/>
                    </a:ext>
                  </a:extLst>
                </a:gridCol>
              </a:tblGrid>
              <a:tr h="355211">
                <a:tc>
                  <a:txBody>
                    <a:bodyPr/>
                    <a:lstStyle/>
                    <a:p>
                      <a:r>
                        <a:rPr lang="pt-BR" sz="1700"/>
                        <a:t>Fase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/>
                        <a:t>Duração Estimada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/>
                        <a:t>Principais Atividades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5863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r>
                        <a:rPr lang="pt-BR" sz="1700" dirty="0"/>
                        <a:t>Planejamento &amp; Requisitos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dirty="0"/>
                        <a:t>2-4 semanas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dirty="0"/>
                        <a:t>Definição de escopo, protótipos, documentação de requisitos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057644"/>
                  </a:ext>
                </a:extLst>
              </a:tr>
              <a:tr h="888028">
                <a:tc>
                  <a:txBody>
                    <a:bodyPr/>
                    <a:lstStyle/>
                    <a:p>
                      <a:r>
                        <a:rPr lang="pt-BR" sz="1700"/>
                        <a:t>Backend &amp; Banco de Dados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dirty="0"/>
                        <a:t>4-6 semanas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dirty="0"/>
                        <a:t>APIs de produtos, lotes, movimentações, integração com etiquetas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888550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r>
                        <a:rPr lang="pt-BR" sz="1700"/>
                        <a:t>Frontend &amp; Integrações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/>
                        <a:t>4-6 semanas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/>
                        <a:t>Interface web/app, dashboards, integração com impressoras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99776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r>
                        <a:rPr lang="pt-BR" sz="1700"/>
                        <a:t>Testes &amp; Validação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/>
                        <a:t>2-4 semanas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/>
                        <a:t>Testes unitários, integração, ajustes e feedback de usuários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670892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r>
                        <a:rPr lang="pt-BR" sz="1700"/>
                        <a:t>Implantação &amp; Treinamento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/>
                        <a:t>2-3 semanas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/>
                        <a:t>Deploy, treinamento de Cozinheiro, Barman, Gerente e Executivo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468578"/>
                  </a:ext>
                </a:extLst>
              </a:tr>
              <a:tr h="621620">
                <a:tc>
                  <a:txBody>
                    <a:bodyPr/>
                    <a:lstStyle/>
                    <a:p>
                      <a:r>
                        <a:rPr lang="pt-BR" sz="1700"/>
                        <a:t>Suporte &amp; Manutenção Contínua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/>
                        <a:t>Contínuo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700" dirty="0"/>
                        <a:t>Correções, atualizações, suporte técnico remoto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4882695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08CF8C3-F5A7-8477-61C0-D518CE5D5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97966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Prazo estimado total: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14 – 23 semanas para entrega do MVP.</a:t>
            </a:r>
          </a:p>
        </p:txBody>
      </p:sp>
    </p:spTree>
    <p:extLst>
      <p:ext uri="{BB962C8B-B14F-4D97-AF65-F5344CB8AC3E}">
        <p14:creationId xmlns:p14="http://schemas.microsoft.com/office/powerpoint/2010/main" val="2616633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07BEB1-6400-03F2-BBFE-B90BEDFF9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/>
              <a:t>LINKS ÚTEIS – ÓRGÃOS REGULAMENTADORES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D19A0C-C123-7F2C-E713-678D6FA35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https://www.foodstandards.gov.au/consumer/labelling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3"/>
              </a:rPr>
              <a:t>https://www.foodstandards.gov.au/business/primary-production-and-processing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4"/>
              </a:rPr>
              <a:t>https://resources.foodsafety.com.au/guides/complying-food-safety-standard-322a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0641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C2BEF1-BA75-C0E6-AC6F-BD2659BAB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685" y="0"/>
            <a:ext cx="12935857" cy="1001486"/>
          </a:xfrm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Papéis Essenciais para o Desenvolvimento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077B108-193F-2B47-CD7D-D541F8D640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7558464"/>
              </p:ext>
            </p:extLst>
          </p:nvPr>
        </p:nvGraphicFramePr>
        <p:xfrm>
          <a:off x="825499" y="1175657"/>
          <a:ext cx="10541001" cy="5355880"/>
        </p:xfrm>
        <a:graphic>
          <a:graphicData uri="http://schemas.openxmlformats.org/drawingml/2006/table">
            <a:tbl>
              <a:tblPr/>
              <a:tblGrid>
                <a:gridCol w="3513667">
                  <a:extLst>
                    <a:ext uri="{9D8B030D-6E8A-4147-A177-3AD203B41FA5}">
                      <a16:colId xmlns:a16="http://schemas.microsoft.com/office/drawing/2014/main" val="467997027"/>
                    </a:ext>
                  </a:extLst>
                </a:gridCol>
                <a:gridCol w="3513667">
                  <a:extLst>
                    <a:ext uri="{9D8B030D-6E8A-4147-A177-3AD203B41FA5}">
                      <a16:colId xmlns:a16="http://schemas.microsoft.com/office/drawing/2014/main" val="4239410031"/>
                    </a:ext>
                  </a:extLst>
                </a:gridCol>
                <a:gridCol w="3513667">
                  <a:extLst>
                    <a:ext uri="{9D8B030D-6E8A-4147-A177-3AD203B41FA5}">
                      <a16:colId xmlns:a16="http://schemas.microsoft.com/office/drawing/2014/main" val="3858748576"/>
                    </a:ext>
                  </a:extLst>
                </a:gridCol>
              </a:tblGrid>
              <a:tr h="187297">
                <a:tc>
                  <a:txBody>
                    <a:bodyPr/>
                    <a:lstStyle/>
                    <a:p>
                      <a:r>
                        <a:rPr lang="pt-BR" sz="1400"/>
                        <a:t>Papel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Função Principal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Média de Preço/hora (AUD)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133358"/>
                  </a:ext>
                </a:extLst>
              </a:tr>
              <a:tr h="610707">
                <a:tc>
                  <a:txBody>
                    <a:bodyPr/>
                    <a:lstStyle/>
                    <a:p>
                      <a:r>
                        <a:rPr lang="pt-BR" sz="1400" b="1" dirty="0"/>
                        <a:t>Project Manager (PM)</a:t>
                      </a:r>
                      <a:endParaRPr lang="pt-BR" sz="1400" dirty="0"/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Coordena o projeto, garante que prazos e entregas sejam cumpridos, gerencia comunicação com o cliente.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100 – 180 AUD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813596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r>
                        <a:rPr lang="pt-BR" sz="1400" b="1"/>
                        <a:t>Product Owner / Business Analyst</a:t>
                      </a:r>
                      <a:endParaRPr lang="pt-BR" sz="1400"/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Levanta requisitos, documenta funcionalidades, faz ponte entre cliente e equipe técnica.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80 – 150 AUD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329767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r>
                        <a:rPr lang="pt-BR" sz="1400" b="1"/>
                        <a:t>Backend Developer (Pleno/Sênior)</a:t>
                      </a:r>
                      <a:endParaRPr lang="pt-BR" sz="1400"/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Implementa APIs, regras de negócio, integração com banco de dados e impressoras Zebra.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50 – 120 AUD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755263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r>
                        <a:rPr lang="pt-BR" sz="1400" b="1"/>
                        <a:t>Frontend Developer (Pleno/Sênior)</a:t>
                      </a:r>
                      <a:endParaRPr lang="pt-BR" sz="1400"/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Desenvolve interface web/app, dashboards e integração com backend.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50 – 120 AUD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78319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r>
                        <a:rPr lang="pt-BR" sz="1400" b="1"/>
                        <a:t>UI/UX Designer</a:t>
                      </a:r>
                      <a:endParaRPr lang="pt-BR" sz="1400"/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Cria protótipos, wireframes, experiência do usuário e layout visual.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60 – 120 AUD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474023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r>
                        <a:rPr lang="pt-BR" sz="1400" b="1"/>
                        <a:t>QA / Test Engineer</a:t>
                      </a:r>
                      <a:endParaRPr lang="pt-BR" sz="1400"/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Cria e executa testes unitários, de integração e de usabilidade, garante qualidade do sistema.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50 – 100 AUD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526307"/>
                  </a:ext>
                </a:extLst>
              </a:tr>
              <a:tr h="328434">
                <a:tc>
                  <a:txBody>
                    <a:bodyPr/>
                    <a:lstStyle/>
                    <a:p>
                      <a:r>
                        <a:rPr lang="pt-BR" sz="1400" b="1"/>
                        <a:t>DevOps / Cloud Engineer</a:t>
                      </a:r>
                      <a:endParaRPr lang="pt-BR" sz="1400"/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Configura servidores, CI/CD, deploy, backups, monitoramento.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70 – 150 AUD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563003"/>
                  </a:ext>
                </a:extLst>
              </a:tr>
              <a:tr h="610707">
                <a:tc>
                  <a:txBody>
                    <a:bodyPr/>
                    <a:lstStyle/>
                    <a:p>
                      <a:r>
                        <a:rPr lang="pt-BR" sz="1400" b="1"/>
                        <a:t>Technical Writer / Documentalist</a:t>
                      </a:r>
                      <a:endParaRPr lang="pt-BR" sz="1400"/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Produz manuais de usuário, documentação de API, guias de operação e conformidade regulatória.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40 – 80 AUD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79880"/>
                  </a:ext>
                </a:extLst>
              </a:tr>
              <a:tr h="469571">
                <a:tc>
                  <a:txBody>
                    <a:bodyPr/>
                    <a:lstStyle/>
                    <a:p>
                      <a:r>
                        <a:rPr lang="pt-BR" sz="1400" b="1"/>
                        <a:t>Support / Maintenance Engineer</a:t>
                      </a:r>
                      <a:endParaRPr lang="pt-BR" sz="1400"/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Suporte pós-implantação, correções de bugs, pequenas melhorias.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40 – 90 AUD</a:t>
                      </a:r>
                    </a:p>
                  </a:txBody>
                  <a:tcPr marL="44859" marR="44859" marT="22430" marB="22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5313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7396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15CDC9-684A-4911-EAD9-6E812629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55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6000" b="1" dirty="0"/>
              <a:t>Orçamento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B5A369E-2F97-4DEE-8D92-1609EBEF5D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892790"/>
              </p:ext>
            </p:extLst>
          </p:nvPr>
        </p:nvGraphicFramePr>
        <p:xfrm>
          <a:off x="838200" y="1929380"/>
          <a:ext cx="10515600" cy="4114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4465920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360078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148275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4069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Horas Estimadas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Custo Hora Brasil (AUD)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Subtotal (AUD)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010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Planejamento &amp; Requisitos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775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Backend &amp; Banco de Dados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192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Frontend &amp; Integrações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8015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Testes &amp; Validação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714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Implantação &amp; Treinamento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2.500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282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Custo Total Brasil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18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Margem de Lucro (~40%)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16.000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364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b="1"/>
                        <a:t>Preço Final Sugerido</a:t>
                      </a:r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~56.000 AUD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43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055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5653C-2CED-F030-EE12-B8325E46F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376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pt-BR" sz="6000" b="1" dirty="0"/>
              <a:t>Formas de pagamento</a:t>
            </a:r>
            <a:br>
              <a:rPr lang="pt-BR" sz="6000" b="1" dirty="0"/>
            </a:br>
            <a:endParaRPr lang="pt-BR" sz="6000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315F92-5EFF-0F96-1066-877E2E61E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4939"/>
            <a:ext cx="10515600" cy="419780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20% na assinatura do contrato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30% após conclusão do </a:t>
            </a:r>
            <a:r>
              <a:rPr lang="pt-BR" sz="4000" dirty="0" err="1"/>
              <a:t>backend</a:t>
            </a:r>
            <a:r>
              <a:rPr lang="pt-BR" sz="4000" dirty="0"/>
              <a:t> + banco de dados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30% após </a:t>
            </a:r>
            <a:r>
              <a:rPr lang="pt-BR" sz="4000" dirty="0" err="1"/>
              <a:t>frontend</a:t>
            </a:r>
            <a:r>
              <a:rPr lang="pt-BR" sz="4000" dirty="0"/>
              <a:t> + integrações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4000" dirty="0"/>
              <a:t>20% na entrega final e treinamento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83086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619</TotalTime>
  <Words>1877</Words>
  <Application>Microsoft Office PowerPoint</Application>
  <PresentationFormat>Widescreen</PresentationFormat>
  <Paragraphs>252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Arial</vt:lpstr>
      <vt:lpstr>Bahnschrift Light SemiCondensed</vt:lpstr>
      <vt:lpstr>Calibri</vt:lpstr>
      <vt:lpstr>Calibri Light</vt:lpstr>
      <vt:lpstr>Wingdings</vt:lpstr>
      <vt:lpstr>Tema do Office</vt:lpstr>
      <vt:lpstr>PRODUCTS LIFE CYCLE</vt:lpstr>
      <vt:lpstr>Objetivo do Projeto</vt:lpstr>
      <vt:lpstr>Usuários</vt:lpstr>
      <vt:lpstr>Funções dos Usuários</vt:lpstr>
      <vt:lpstr>Apresentação do PowerPoint</vt:lpstr>
      <vt:lpstr>Apresentação do PowerPoint</vt:lpstr>
      <vt:lpstr>Jornadas do Sistema</vt:lpstr>
      <vt:lpstr>Escopo Funcional</vt:lpstr>
      <vt:lpstr>Modelo Entidade Relacionamento</vt:lpstr>
      <vt:lpstr>Arquitetura – Banco de Dados</vt:lpstr>
      <vt:lpstr>Arquitetura - Backend </vt:lpstr>
      <vt:lpstr>Arquitetura - Frontend</vt:lpstr>
      <vt:lpstr>Arquitetura - Integrações Externas </vt:lpstr>
      <vt:lpstr>Arquitetura - Usuários e Perfis </vt:lpstr>
      <vt:lpstr>Benefícios da Arquitetura</vt:lpstr>
      <vt:lpstr>Integração com Impressoras</vt:lpstr>
      <vt:lpstr>Etiqueta - Dimensões</vt:lpstr>
      <vt:lpstr>Layout  da Etiqueta</vt:lpstr>
      <vt:lpstr>ROADMAP</vt:lpstr>
      <vt:lpstr>LINKS ÚTEIS – ÓRGÃOS REGULAMENTADORES</vt:lpstr>
      <vt:lpstr>Papéis Essenciais para o Desenvolvimento</vt:lpstr>
      <vt:lpstr>Orçamento</vt:lpstr>
      <vt:lpstr>Formas de pagamento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Junior</dc:creator>
  <cp:lastModifiedBy>Marcio Junior</cp:lastModifiedBy>
  <cp:revision>3</cp:revision>
  <dcterms:created xsi:type="dcterms:W3CDTF">2025-09-01T14:51:52Z</dcterms:created>
  <dcterms:modified xsi:type="dcterms:W3CDTF">2025-09-02T01:13:31Z</dcterms:modified>
</cp:coreProperties>
</file>